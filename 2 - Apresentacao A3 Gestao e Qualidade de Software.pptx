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331640"/>
            <a:ext cx="828675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Refatoração de Código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2023132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4FF"/>
                </a:solidFill>
              </a:rPr>
              <a:t>Banco de Doações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2651782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F4F8"/>
                </a:solidFill>
              </a:rPr>
              <a:t>Aplicação de princípios Clean Code, SOLID e padrão MVC para transformar um código legado em uma arquitetura robusta, testável e fácil de manter.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3697560"/>
            <a:ext cx="1957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PROJETO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3883298"/>
            <a:ext cx="195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C4D4"/>
                </a:solidFill>
              </a:rPr>
              <a:t>A3 - Gestão e Qualidade de Software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2672125" y="3697560"/>
            <a:ext cx="2615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ANO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2672125" y="3883298"/>
            <a:ext cx="2615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C4D4"/>
                </a:solidFill>
              </a:rPr>
              <a:t>2025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09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71513"/>
            <a:ext cx="3929063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Deficiências do Código Legado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637314"/>
            <a:ext cx="39290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F4F8"/>
                </a:solidFill>
              </a:rPr>
              <a:t>O código original apresentava uma série de problemas que comprometiam sua qualidade, dificultando a manutenção e evolução do sistema. A análise identificou quatro deficiências principais que justificaram a refatoração.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786313" y="428625"/>
            <a:ext cx="3929063" cy="1165827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786313" y="428625"/>
            <a:ext cx="28575" cy="1165827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4929188" y="571500"/>
            <a:ext cx="36433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86" dirty="0">
                <a:solidFill>
                  <a:srgbClr val="00D4FF"/>
                </a:solidFill>
              </a:rPr>
              <a:t>⚙️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4929188" y="942975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Mistura de Responsabilidades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929188" y="1171575"/>
            <a:ext cx="36433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0C4D4"/>
                </a:solidFill>
              </a:rPr>
              <a:t>Classes de interface manipulavam lógica de negócio e acesso a dados simultaneamente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4786313" y="1737327"/>
            <a:ext cx="3929063" cy="1165827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86313" y="1737327"/>
            <a:ext cx="28575" cy="1165827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9"/>
          <p:cNvSpPr/>
          <p:nvPr/>
        </p:nvSpPr>
        <p:spPr>
          <a:xfrm>
            <a:off x="4929188" y="1880202"/>
            <a:ext cx="36433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86" dirty="0">
                <a:solidFill>
                  <a:srgbClr val="00D4FF"/>
                </a:solidFill>
              </a:rPr>
              <a:t>🔗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4929188" y="2251677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Falta de Abstração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929188" y="2480277"/>
            <a:ext cx="36433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0C4D4"/>
                </a:solidFill>
              </a:rPr>
              <a:t>DAO sem interface, alto acoplamento, difícil de estender ou substituir implementações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786313" y="3046028"/>
            <a:ext cx="3929063" cy="1165827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86313" y="3046028"/>
            <a:ext cx="28575" cy="1165827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4"/>
          <p:cNvSpPr/>
          <p:nvPr/>
        </p:nvSpPr>
        <p:spPr>
          <a:xfrm>
            <a:off x="4929188" y="3188903"/>
            <a:ext cx="36433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86" dirty="0">
                <a:solidFill>
                  <a:srgbClr val="00D4FF"/>
                </a:solidFill>
              </a:rPr>
              <a:t>⚠️</a:t>
            </a:r>
            <a:endParaRPr lang="en-US" sz="1486" dirty="0"/>
          </a:p>
        </p:txBody>
      </p:sp>
      <p:sp>
        <p:nvSpPr>
          <p:cNvPr id="18" name="Text 15"/>
          <p:cNvSpPr/>
          <p:nvPr/>
        </p:nvSpPr>
        <p:spPr>
          <a:xfrm>
            <a:off x="4929188" y="3560378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Tratamento de Erros Inadequado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929188" y="3788978"/>
            <a:ext cx="36433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0C4D4"/>
                </a:solidFill>
              </a:rPr>
              <a:t>Blocos catch vazios, erros silenciosos, difícil depuração e identificação de problemas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4786313" y="4354730"/>
            <a:ext cx="3929063" cy="1025826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786313" y="4354730"/>
            <a:ext cx="28575" cy="102582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19"/>
          <p:cNvSpPr/>
          <p:nvPr/>
        </p:nvSpPr>
        <p:spPr>
          <a:xfrm>
            <a:off x="4929188" y="4497605"/>
            <a:ext cx="36433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86" dirty="0">
                <a:solidFill>
                  <a:srgbClr val="00D4FF"/>
                </a:solidFill>
              </a:rPr>
              <a:t>🧪</a:t>
            </a:r>
            <a:endParaRPr lang="en-US" sz="1486" dirty="0"/>
          </a:p>
        </p:txBody>
      </p:sp>
      <p:sp>
        <p:nvSpPr>
          <p:cNvPr id="23" name="Text 20"/>
          <p:cNvSpPr/>
          <p:nvPr/>
        </p:nvSpPr>
        <p:spPr>
          <a:xfrm>
            <a:off x="4929188" y="4869080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Baixa Testabilidade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929188" y="5097680"/>
            <a:ext cx="36433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0C4D4"/>
                </a:solidFill>
              </a:rPr>
              <a:t>Impossível testar lógica isoladamente sem UI e banco de dados real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71513"/>
            <a:ext cx="3929063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Solução: Arquitetura em Camadas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637314"/>
            <a:ext cx="39290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F4F8"/>
                </a:solidFill>
              </a:rPr>
              <a:t>Implementamos uma arquitetura MVC bem estruturada, separando o código em 5 camadas distintas, cada uma com responsabilidade única. Aplicamos princípios SOLID para garantir flexibilidade e testabilidade.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428625" y="2745935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D4FF"/>
                </a:solidFill>
              </a:rPr>
              <a:t>✓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750094" y="2745935"/>
            <a:ext cx="20463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SRP: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4F8"/>
                </a:solidFill>
              </a:rPr>
              <a:t> Uma responsabilidade por classe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3110266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D4FF"/>
                </a:solidFill>
              </a:rPr>
              <a:t>✓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50094" y="3110266"/>
            <a:ext cx="28910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OCP: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4F8"/>
                </a:solidFill>
              </a:rPr>
              <a:t> Aberta para extensão, fechada para modificação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28625" y="3474597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D4FF"/>
                </a:solidFill>
              </a:rPr>
              <a:t>✓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750094" y="3474597"/>
            <a:ext cx="2924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DIP: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4F8"/>
                </a:solidFill>
              </a:rPr>
              <a:t> Depender de abstrações, não de implementações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4786313" y="1060847"/>
            <a:ext cx="3929063" cy="535781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786313" y="1060847"/>
            <a:ext cx="28575" cy="53578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4900613" y="1175147"/>
            <a:ext cx="3700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📱 VIEW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900613" y="1353741"/>
            <a:ext cx="3700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C4D4"/>
                </a:solidFill>
              </a:rPr>
              <a:t>Interface Gráfica</a:t>
            </a:r>
            <a:endParaRPr lang="en-US" sz="621" dirty="0"/>
          </a:p>
        </p:txBody>
      </p:sp>
      <p:sp>
        <p:nvSpPr>
          <p:cNvPr id="15" name="Shape 12"/>
          <p:cNvSpPr/>
          <p:nvPr/>
        </p:nvSpPr>
        <p:spPr>
          <a:xfrm>
            <a:off x="4786313" y="1682353"/>
            <a:ext cx="3929063" cy="535781"/>
          </a:xfrm>
          <a:prstGeom prst="rect">
            <a:avLst/>
          </a:prstGeom>
          <a:solidFill>
            <a:srgbClr val="00D4FF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86313" y="1682353"/>
            <a:ext cx="28575" cy="53578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4"/>
          <p:cNvSpPr/>
          <p:nvPr/>
        </p:nvSpPr>
        <p:spPr>
          <a:xfrm>
            <a:off x="4900613" y="1796653"/>
            <a:ext cx="3700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🎮 CONTROLLER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900613" y="1975247"/>
            <a:ext cx="3700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C4D4"/>
                </a:solidFill>
              </a:rPr>
              <a:t>Coordenação e Orquestração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4786313" y="2303859"/>
            <a:ext cx="3929063" cy="535781"/>
          </a:xfrm>
          <a:prstGeom prst="rect">
            <a:avLst/>
          </a:prstGeom>
          <a:solidFill>
            <a:srgbClr val="00D4FF">
              <a:alpha val="9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786313" y="2303859"/>
            <a:ext cx="28575" cy="53578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8"/>
          <p:cNvSpPr/>
          <p:nvPr/>
        </p:nvSpPr>
        <p:spPr>
          <a:xfrm>
            <a:off x="4900613" y="2418159"/>
            <a:ext cx="3700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⚙️ SERVICE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900613" y="2596753"/>
            <a:ext cx="3700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C4D4"/>
                </a:solidFill>
              </a:rPr>
              <a:t>Lógica de Negócio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4786313" y="2925366"/>
            <a:ext cx="3929063" cy="535781"/>
          </a:xfrm>
          <a:prstGeom prst="rect">
            <a:avLst/>
          </a:prstGeom>
          <a:solidFill>
            <a:srgbClr val="00D4FF">
              <a:alpha val="6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786313" y="2925366"/>
            <a:ext cx="28575" cy="53578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4900613" y="3039666"/>
            <a:ext cx="3700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💾 REPOSITORY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900613" y="3218259"/>
            <a:ext cx="3700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C4D4"/>
                </a:solidFill>
              </a:rPr>
              <a:t>Interface de Acesso a Dados</a:t>
            </a:r>
            <a:endParaRPr lang="en-US" sz="621" dirty="0"/>
          </a:p>
        </p:txBody>
      </p:sp>
      <p:sp>
        <p:nvSpPr>
          <p:cNvPr id="27" name="Shape 24"/>
          <p:cNvSpPr/>
          <p:nvPr/>
        </p:nvSpPr>
        <p:spPr>
          <a:xfrm>
            <a:off x="4786313" y="3546872"/>
            <a:ext cx="3929063" cy="535781"/>
          </a:xfrm>
          <a:prstGeom prst="rect">
            <a:avLst/>
          </a:prstGeom>
          <a:solidFill>
            <a:srgbClr val="00D4FF">
              <a:alpha val="3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786313" y="3546872"/>
            <a:ext cx="28575" cy="53578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6"/>
          <p:cNvSpPr/>
          <p:nvPr/>
        </p:nvSpPr>
        <p:spPr>
          <a:xfrm>
            <a:off x="4900613" y="3661172"/>
            <a:ext cx="3700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0C4D4"/>
                </a:solidFill>
              </a:rPr>
              <a:t>📦 MODEL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900613" y="3839766"/>
            <a:ext cx="37004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C4D4"/>
                </a:solidFill>
              </a:rPr>
              <a:t>Entidades de Dados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71513"/>
            <a:ext cx="3929063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Experiência de Trabalho em Grupo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637314"/>
            <a:ext cx="3929063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F4F8"/>
                </a:solidFill>
              </a:rPr>
              <a:t>O desenvolvimento deste projeto em equipe foi uma oportunidade valiosa de aprender a colaborar, compartilhar conhecimento e superar desafios técnicos juntos. A experiência demonstrou como o trabalho coletivo eleva a qualidade do resultado final.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4786313" y="450782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✨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036344" y="472213"/>
            <a:ext cx="9357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Pontos Positivos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4786313" y="843688"/>
            <a:ext cx="3929063" cy="610065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786313" y="843688"/>
            <a:ext cx="21431" cy="61006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4872038" y="943701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👥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36356" y="929413"/>
            <a:ext cx="34932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Colaboração Efetiva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136356" y="1108007"/>
            <a:ext cx="349329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C4D4"/>
                </a:solidFill>
              </a:rPr>
              <a:t>Divisão clara de tarefas permitiu que cada membro contribuísse com suas forças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4786313" y="1560909"/>
            <a:ext cx="3929063" cy="610065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786313" y="1560909"/>
            <a:ext cx="21431" cy="61006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4872038" y="1660922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📚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136356" y="1646634"/>
            <a:ext cx="34932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Aprendizado Coletivo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136356" y="1825228"/>
            <a:ext cx="349329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C4D4"/>
                </a:solidFill>
              </a:rPr>
              <a:t>Compartilhamento de conhecimento sobre SOLID, Clean Code e padrões de design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786313" y="2278131"/>
            <a:ext cx="3929063" cy="610065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786313" y="2278131"/>
            <a:ext cx="21431" cy="61006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4872038" y="2378143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⭐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36356" y="2363856"/>
            <a:ext cx="34932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Qualidade Elevada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5136356" y="2542449"/>
            <a:ext cx="3493294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C4D4"/>
                </a:solidFill>
              </a:rPr>
              <a:t>Code review entre membros garantiu código de melhor qualidade e menos erros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4786313" y="3102508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🎯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36344" y="3123940"/>
            <a:ext cx="11108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Desafios Superados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4786313" y="3495415"/>
            <a:ext cx="3929063" cy="480054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786313" y="3495415"/>
            <a:ext cx="21431" cy="48005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3"/>
          <p:cNvSpPr/>
          <p:nvPr/>
        </p:nvSpPr>
        <p:spPr>
          <a:xfrm>
            <a:off x="4872038" y="3595427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⏱️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136356" y="3581140"/>
            <a:ext cx="326954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Sincronização de Tarefas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136356" y="3759733"/>
            <a:ext cx="326954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C4D4"/>
                </a:solidFill>
              </a:rPr>
              <a:t>Coordenação de horários e prazos para manter o projeto no caminho certo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4786313" y="4082625"/>
            <a:ext cx="3929063" cy="610065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786313" y="4082625"/>
            <a:ext cx="21431" cy="61006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8"/>
          <p:cNvSpPr/>
          <p:nvPr/>
        </p:nvSpPr>
        <p:spPr>
          <a:xfrm>
            <a:off x="4872038" y="4247657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🔄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136356" y="4233370"/>
            <a:ext cx="347805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Integração de Código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5136356" y="4411963"/>
            <a:ext cx="347805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C4D4"/>
                </a:solidFill>
              </a:rPr>
              <a:t>Gerenciamento de conflitos no Git e garantia de compatibilidade entre módulos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37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1924" y="742950"/>
            <a:ext cx="6660152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Conclusão: Importância do Clean Code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1357313" y="1297288"/>
            <a:ext cx="2047856" cy="1770171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357313" y="1297288"/>
            <a:ext cx="2047856" cy="2857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3"/>
          <p:cNvSpPr/>
          <p:nvPr/>
        </p:nvSpPr>
        <p:spPr>
          <a:xfrm>
            <a:off x="1535906" y="1475882"/>
            <a:ext cx="169066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45" dirty="0">
                <a:solidFill>
                  <a:srgbClr val="000000"/>
                </a:solidFill>
              </a:rPr>
              <a:t>💰</a:t>
            </a:r>
            <a:endParaRPr lang="en-US" sz="2145" dirty="0"/>
          </a:p>
        </p:txBody>
      </p:sp>
      <p:sp>
        <p:nvSpPr>
          <p:cNvPr id="7" name="Text 4"/>
          <p:cNvSpPr/>
          <p:nvPr/>
        </p:nvSpPr>
        <p:spPr>
          <a:xfrm>
            <a:off x="1535906" y="2011663"/>
            <a:ext cx="16906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Redução de Custos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535906" y="2311701"/>
            <a:ext cx="169066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4F8"/>
                </a:solidFill>
              </a:rPr>
              <a:t>Menos tempo gasto em manutenção e correção de bugs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3548044" y="1297288"/>
            <a:ext cx="2047884" cy="1741596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548044" y="1297288"/>
            <a:ext cx="2047884" cy="2857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3726638" y="1475882"/>
            <a:ext cx="169069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45" dirty="0">
                <a:solidFill>
                  <a:srgbClr val="000000"/>
                </a:solidFill>
              </a:rPr>
              <a:t>⚡</a:t>
            </a:r>
            <a:endParaRPr lang="en-US" sz="2145" dirty="0"/>
          </a:p>
        </p:txBody>
      </p:sp>
      <p:sp>
        <p:nvSpPr>
          <p:cNvPr id="12" name="Text 9"/>
          <p:cNvSpPr/>
          <p:nvPr/>
        </p:nvSpPr>
        <p:spPr>
          <a:xfrm>
            <a:off x="3726638" y="2011663"/>
            <a:ext cx="16906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Produtividade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726638" y="2311701"/>
            <a:ext cx="169069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4F8"/>
                </a:solidFill>
              </a:rPr>
              <a:t>Equipe desenvolve mais rápido com código limpo e organizado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738803" y="1297288"/>
            <a:ext cx="2047856" cy="1741596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38803" y="1297288"/>
            <a:ext cx="2047856" cy="2857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5917397" y="1475882"/>
            <a:ext cx="169066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45" dirty="0">
                <a:solidFill>
                  <a:srgbClr val="000000"/>
                </a:solidFill>
              </a:rPr>
              <a:t>✨</a:t>
            </a:r>
            <a:endParaRPr lang="en-US" sz="2145" dirty="0"/>
          </a:p>
        </p:txBody>
      </p:sp>
      <p:sp>
        <p:nvSpPr>
          <p:cNvPr id="17" name="Text 14"/>
          <p:cNvSpPr/>
          <p:nvPr/>
        </p:nvSpPr>
        <p:spPr>
          <a:xfrm>
            <a:off x="5917397" y="2011663"/>
            <a:ext cx="16906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Qualidade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5917397" y="2311701"/>
            <a:ext cx="169066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4F8"/>
                </a:solidFill>
              </a:rPr>
              <a:t>Código testável, seguro e fácil de estender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1357313" y="3610384"/>
            <a:ext cx="6429375" cy="1358708"/>
          </a:xfrm>
          <a:prstGeom prst="rect">
            <a:avLst/>
          </a:prstGeom>
          <a:solidFill>
            <a:srgbClr val="00D4FF">
              <a:alpha val="1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357313" y="3610384"/>
            <a:ext cx="42863" cy="13587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8"/>
          <p:cNvSpPr/>
          <p:nvPr/>
        </p:nvSpPr>
        <p:spPr>
          <a:xfrm>
            <a:off x="1571625" y="3824697"/>
            <a:ext cx="600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Clean Code transforma software que "funciona" em software que "funciona, é fácil de entender e fácil de manter"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1571625" y="4389053"/>
            <a:ext cx="6000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F4F8"/>
                </a:solidFill>
              </a:rPr>
              <a:t>A refatoração realizada demonstra que investir em qualidade de código é investir no futuro do projeto e na produtividade da equipe de desenvolvimento.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1357313" y="5469155"/>
            <a:ext cx="6429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A0C4D4"/>
                </a:solidFill>
              </a:rPr>
              <a:t>"Um código bem escrito é um código que pode ser lido, compreendido e modificado por qualquer desenvolvedor, em qualquer momento, sem medo de introduzir bugs."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2025-11-08T02:29:27Z</dcterms:created>
  <dcterms:modified xsi:type="dcterms:W3CDTF">2025-11-08T02:29:27Z</dcterms:modified>
</cp:coreProperties>
</file>